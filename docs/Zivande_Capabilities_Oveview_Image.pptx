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46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85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Zivande is your end-to-end IT partner. This deck covers 32 capabilities across 5 practice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IT Advisory — Sections 01–08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Services — End-to-end technology services that help enterprises plan, build, run, and continuously improve their IT landscape.
Key capabilities: Managed IT operations &amp; support desk; Technology strategy and roadmap planning; Vendor &amp; SLA management; Scalable delivery across on-prem and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Consulting — Independent, outcomes-driven advisory that aligns technology investment with business strategy and growth goals.
Key capabilities: Technology due-diligence &amp; feasibility studies; IT cost optimization advisory; Vendor &amp; tool selection guidance; Risk and opportunity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Operating Model — Designing the future-state structure of people, process, and technology needed to deliver your business strategy.
Key capabilities: Current vs future-state operating model design; Organization &amp; role design; Process and capability alignment; Transition roadmap &amp; change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Governance Model — Frameworks that ensure IT decisions, investments, and risk are managed consistently and transparently across the enterprise.
Key capabilities: Governance structure &amp; decision rights; Policy and control framework design; IT steering committee enablement; Risk, compliance &amp; performance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IT Assessment — Comprehensive evaluation of your current IT landscape to identify gaps, risks, and opportunities for improvement.
Key capabilities: Infrastructure &amp; application health checks; Maturity benchmarking against industry standards; Technical debt and risk identification; Prioritized improvement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Architecture — Building a unified architecture blueprint that connects business strategy, applications, data, and infrastructure.
Key capabilities: Business, application &amp; data architecture design; Technology standards &amp; reference architectures; Architecture governance and roadmaps; Alignment with TOGAF / industry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Capability Management — Mapping and managing organizational capabilities to ensure technology investment delivers measurable business value.
Key capabilities: Capability mapping &amp; heat-mapping; Investment prioritization by business value; Capability maturity tracking; Gap analysis and capability uplift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&amp; Service Value Strategy — Crafting product and service strategies that maximize customer value and long-term competitive advantage.
Key capabilities: Product/service portfolio strategy; Value proposition design; Go-to-market and pricing strategy; Lifecycle &amp; roadmap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&amp; Application Engineering — Sections 09–15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Development — Custom software engineering delivered with modern practices to build reliable, scalable, and secure solutions.
Key capabilities: Custom software design &amp; build; Agile / DevOps delivery practices; Quality engineering &amp; automated testing; Secure coding and code review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Development — Designing and building web and enterprise applications tailored to your business processes and user needs.
Key capabilities: Web &amp; enterprise application development; API-first and microservices architecture; UI/UX-focused front-end engineering; Integration with third-party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Application Development — Native and cross-platform mobile apps that deliver seamless experiences across iOS and Android.
Key capabilities: iOS, Android &amp; cross-platform development; React Native / Flutter expertise; App store deployment &amp; release management; Performance, security &amp; offline-first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Process Optimization — Streamlining workflows and operations to reduce cost, eliminate waste, and improve speed and quality.
Key capabilities: Process mapping &amp; bottleneck analysis; Workflow automation &amp; re-engineering; BPM tooling implementation; Continuous improvement (Lean / Six Sigma).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Process, Standards &amp; Compliance Advisory — Independent review of processes against industry standards to strengthen compliance and operational integrity.
Key capabilities: Process &amp; standards gap assessment; Regulatory compliance advisory; Policy and SOP development; Audit readiness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Excellence — Embedding disciplined practices that drive consistent, high-quality outcomes across day-to-day operations.
Key capabilities: Performance management frameworks; Quality and productivity benchmarking; Standard operating procedures; Continuous improvement culture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Agility &amp; Sustainable Business — Building flexible, resilient capabilities that let organizations adapt quickly while operating responsibly.
Key capabilities: Agile transformation enablement; Resilience and business continuity planning; Sustainable technology practices (Green IT); Adaptive operating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&amp; Governance — Sections 16–21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Services — Designing, deploying, and managing the foundational IT infrastructure that powers reliable business operations.
Key capabilities: Server, network &amp; storage management; Cloud infrastructure (AWS / Azure / GCP); Monitoring, backup &amp; disaster recovery; Infrastructure-as-Code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Compliance &amp; Audit — Ensuring IT operations meet regulatory, security, and contractual obligations through structured audit practices.
Key capabilities: IT controls and compliance audits; ISO 27001 / SOC 2 / GDPR readiness; Audit documentation &amp; evidence management; Remediation tracking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Chain Management — Technology-enabled solutions that improve visibility, efficiency, and resilience across the supply chain.
Key capabilities: Supply chain process digitization; Demand planning &amp; forecasting tools; Vendor &amp; procurement system integration; Real-time tracking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Management — Tracking and optimizing the lifecycle of IT and business assets to maximize value and minimize risk.
Key capabilities: IT asset inventory &amp; lifecycle tracking; License &amp; contract management; Asset utilization analytics; Depreciation and cost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 Management — Optimizing the movement and storage of goods through smarter planning, tracking, and coordination.
Key capabilities: Route &amp; fleet optimization; Warehouse management systems; Inventory and order tracking; Logistics analytics &amp;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Relationship Management — Implementing CRM solutions that strengthen customer engagement, retention, and sales performance.
Key capabilities: CRM platform implementation &amp; customization; Sales &amp; marketing automation; Customer data unification; Engagement and retention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&amp; Modernization — Sections 22–24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Transformation — Reimagining business models, processes, and customer experiences through end-to-end digital adoption.
Key capabilities: Digital strategy &amp; roadmap; Legacy-to-digital process transformation; Change management &amp; adoption; Digital customer experience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Modernization — Transforming legacy infrastructure into agile, scalable, cloud-ready environments built for the future.
Key capabilities: Cloud migration &amp; hybrid cloud strategy; Containerization (Docker / Kubernetes); Network and security modernization; Cost-optimized infrastructure re-architecture.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Modernization — Upgrading legacy applications to modern, maintainable architectures that improve performance and agility.
Key capabilities: Legacy re-platforming &amp; re-architecting; Monolith-to-microservices migration; API enablement of legacy systems; Technical debt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AI, Data &amp; Digital Growth — Sections 25–32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Intelligence — Applying AI to automate decisions, unlock insights, and create intelligent products and services.
Key capabilities: AI strategy &amp; use-case identification; Intelligent automation solutions; AI model integration (incl. LLM / Agentic AI); Responsible AI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— Building predictive and adaptive models that learn from data to improve decisions and outcomes.
Key capabilities: Predictive modeling &amp; forecasting; Recommendation &amp; classification systems; ML pipeline design &amp; MLOps; Model monitoring and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Learning — Leveraging neural network architectures to solve complex problems in vision, language, and pattern recognition.
Key capabilities: Computer vision solutions; Neural network design &amp; training; Transfer learning with pre-trained models; GPU-accelerated training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Language Processing — Enabling systems to understand, generate, and act on human language for smarter automation and insights.
Key capabilities: Chatbots &amp; conversational AI; Text classification &amp; sentiment analysis; Document understanding &amp; extraction; LLM-powered language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Analytics — Turning raw data into actionable insight through structured analysis, visualization, and reporting.
Key capabilities: Data warehousing &amp; pipeline design; Business intelligence dashboards; Descriptive &amp; predictive analytics; Data governance and quality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Marketing — Driving brand growth and customer acquisition through integrated, data-informed digital marketing strategies.
Key capabilities: Multi-channel campaign strategy; Content &amp; social media marketing; Marketing analytics &amp; attribution; Conversion rate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Engine Optimization — Improving organic visibility and search rankings to drive sustainable, high-quality traffic and leads.
Key capabilities: Technical SEO audits &amp; fixes; Keyword strategy &amp; content optimization; Link building &amp; authority growth; Search performance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 (Internet of Things) — Connecting devices and sensors to capture real-time data and enable smarter, automated operations.
Key capabilities: IoT solution architecture &amp; deployment; Sensor integration &amp; edge computing; Real-time monitoring dashboards; Predictive maintenance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CTA and contact details. Confirm the correct web/email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85095d-081e-4525-8e34-3f909ec38e25.claudeusercontent.com/cdn-cgi/l/email-pro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4576">
                  <a:alpha val="100000"/>
                </a:srgbClr>
              </a:gs>
              <a:gs pos="52000">
                <a:srgbClr val="0B2747">
                  <a:alpha val="100000"/>
                </a:srgbClr>
              </a:gs>
              <a:gs pos="100000">
                <a:srgbClr val="07182E">
                  <a:alpha val="100000"/>
                </a:srgbClr>
              </a:gs>
            </a:gsLst>
            <a:path path="circle">
              <a:fillToRect l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2573000" y="6096000"/>
            <a:ext cx="7429500" cy="74295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5750" y="6477000"/>
            <a:ext cx="7429500" cy="7429500"/>
          </a:xfrm>
          <a:prstGeom prst="ellipse">
            <a:avLst/>
          </a:prstGeom>
          <a:ln w="254000">
            <a:solidFill>
              <a:srgbClr val="3D82C4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800100"/>
            <a:ext cx="66288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7780" y="876300"/>
            <a:ext cx="18684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405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52500" y="3133725"/>
            <a:ext cx="5334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8" name="Text 5"/>
          <p:cNvSpPr/>
          <p:nvPr/>
        </p:nvSpPr>
        <p:spPr>
          <a:xfrm>
            <a:off x="1657350" y="3033713"/>
            <a:ext cx="39840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59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 DECK · 2026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2500" y="3576638"/>
            <a:ext cx="1216533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156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Services &amp; Capabilities Overview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952500" y="5900738"/>
            <a:ext cx="88296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complete partner for IT strategy, engineering, infrastructure, and digital innovation.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A9C2DD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8829675"/>
            <a:ext cx="14334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952500" y="9305925"/>
            <a:ext cx="143345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2922389" y="8829675"/>
            <a:ext cx="16723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3150" dirty="0"/>
          </a:p>
        </p:txBody>
      </p:sp>
      <p:sp>
        <p:nvSpPr>
          <p:cNvPr id="15" name="Text 12"/>
          <p:cNvSpPr/>
          <p:nvPr/>
        </p:nvSpPr>
        <p:spPr>
          <a:xfrm>
            <a:off x="2922389" y="9305925"/>
            <a:ext cx="167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 AREAS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5109418" y="8829675"/>
            <a:ext cx="21500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5109418" y="9305925"/>
            <a:ext cx="21500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END-TO-END PARTNER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5535275" y="9267825"/>
            <a:ext cx="19802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www.zivande.com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4312890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4227165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703415"/>
            <a:ext cx="8539163" cy="822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Strategic IT Advisory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575488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01–08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2743200"/>
            <a:ext cx="9525" cy="480060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3337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29479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2895600"/>
            <a:ext cx="11678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Services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495675"/>
            <a:ext cx="14385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Consulting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095750"/>
            <a:ext cx="25250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Operating Model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695825"/>
            <a:ext cx="23070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Governance Model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295900"/>
            <a:ext cx="27837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IT Assessment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5895975"/>
            <a:ext cx="25149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Architecture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496050"/>
            <a:ext cx="37232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Capability Management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0115550" y="75342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15550" y="71485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610850" y="7096125"/>
            <a:ext cx="35454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&amp; Service Value Strategy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25001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Services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6756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OPERATIONS / SUPPORT TEAM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technology services that help enterprises plan, build, run, and continuously improve their IT landscape.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85272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852721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Reliable, always-on operations with predictable cost and fewer disruptions to the business.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82796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827968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accountable partner across on-prem and cloud, with SLAs tuned to your priorities.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297086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Consulting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5800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STRATEGY CONSULTING SESSION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Independent, outcomes-driven advisory that aligns technology investment with business strategy and growth goals.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765954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765954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 technology decisions backed by independent, evidence-based analysis.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79574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795749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Vendor-neutral advice focused on your outcomes — never on selling you a platform.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255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Target Operating Model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2934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OPERATING-MODEL WORKSHOP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the future-state structure of people, process, and technology needed to deliver your business strategy.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73280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73280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clear, future-ready structure that connects strategy to day-to-day execution.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83964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839640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Pragmatic transition roadmaps your teams can actually adopt, not just a target diagram.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84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700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9500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700" y="1538288"/>
            <a:ext cx="476742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Governance Model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4341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6756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BOARDROOM GOVERNANCE MEETING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Frameworks that ensure IT decisions, investments, and risk are managed consistently and transparently across the enterprise.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74326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743264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Faster, more consistent decisions with risk and spend kept firmly under control.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6876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687684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Right-sized governance that adds clarity without slowing delivery down.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78030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IT Assessment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4844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ASSESSMENT / DASHBOARDS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evaluation of your current IT landscape to identify gaps, risks, and opportunities for improvement.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5648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564851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prioritized view of where to invest, fix, and modernize first.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730134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730134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Benchmarked findings tied to business impact, not a generic technical audit.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26805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Architecture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315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 BLUEPRINT / PLANNING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a unified architecture blueprint that connects business strategy, applications, data, and infrastructure.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72668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726680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coherent technology blueprint that reduces duplication and integration risk.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76236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762369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grounded in TOGAF yet shaped to how your business actually runs.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77597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Capability Management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25800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CAPABILITY MAPPING WORKSHOP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Mapping and managing organizational capabilities to ensure technology investment delivers measurable business value.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70831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708311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Investment focused on the capabilities that move business outcomes most.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70289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70289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heat-maps that make gaps and trade-offs visible to leadership.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0594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73889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&amp; Service Value Strategy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9436" y="3574256"/>
            <a:ext cx="4572000" cy="4572000"/>
          </a:xfrm>
          <a:prstGeom prst="ellipse">
            <a:avLst/>
          </a:prstGeom>
          <a:ln w="9525">
            <a:solidFill>
              <a:srgbClr val="7AA6E0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9036" y="4183856"/>
            <a:ext cx="3352800" cy="33528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78636" y="4793456"/>
            <a:ext cx="2133600" cy="2133600"/>
          </a:xfrm>
          <a:prstGeom prst="ellipse">
            <a:avLst/>
          </a:prstGeom>
          <a:ln w="9525">
            <a:solidFill>
              <a:srgbClr val="7AA6E0">
                <a:alpha val="2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2036" y="5326856"/>
            <a:ext cx="1066800" cy="1066800"/>
          </a:xfrm>
          <a:prstGeom prst="ellipse">
            <a:avLst/>
          </a:prstGeom>
          <a:solidFill>
            <a:srgbClr val="7AA6E0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88286" y="3631406"/>
            <a:ext cx="114300" cy="114300"/>
          </a:xfrm>
          <a:prstGeom prst="ellipse">
            <a:avLst/>
          </a:prstGeom>
          <a:solidFill>
            <a:srgbClr val="8FB4E6"/>
          </a:solidFill>
          <a:ln/>
          <a:effectLst>
            <a:outerShdw blurRad="209550" dist="50800" dir="16200000" algn="bl" rotWithShape="0">
              <a:srgbClr val="8FB4E6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14100" dirty="0"/>
          </a:p>
        </p:txBody>
      </p:sp>
      <p:sp>
        <p:nvSpPr>
          <p:cNvPr id="21" name="Shape 18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1100" y="2452688"/>
            <a:ext cx="315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STRATEGY / CUSTOMER VALUE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4" name="Shape 21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Crafting product and service strategies that maximize customer value and long-term competitive advantage.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5741194"/>
            <a:ext cx="63598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5979319"/>
            <a:ext cx="635984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Offerings customers value and that hold up against the competition.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4" name="Text 31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707636" y="6682234"/>
            <a:ext cx="73164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707636" y="6920359"/>
            <a:ext cx="731640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linked to pricing, roadmap, and go-to-market — not just positioning.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39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528120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442395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2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3918645"/>
            <a:ext cx="7995761" cy="239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Software &amp; Application Engineering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539657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09–15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3043238"/>
            <a:ext cx="9525" cy="4200525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6337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32480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3195638"/>
            <a:ext cx="24697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Development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423386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84810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795713"/>
            <a:ext cx="27287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Development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8339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4481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395788"/>
            <a:ext cx="35140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 Application Development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43401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504825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995863"/>
            <a:ext cx="33208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Process Optimization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60340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6483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595938"/>
            <a:ext cx="46276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Process, Standards &amp; Compliance Advisory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63416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624840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6196013"/>
            <a:ext cx="24897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Excellence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72342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8484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796088"/>
            <a:ext cx="32540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&amp; Sustainable Business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1343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Software Development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3888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ENGINEERING TEAM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software engineering delivered with modern practices to build reliable, scalable, and secure solutions.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61108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611083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Reliable, scalable software delivered predictably and built to last.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74856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748568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Secure-by-design engineering with quality and testing baked into every sprint.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6658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Development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8667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 / ENTERPRISE APP ON SCREEN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and building web and enterprise applications tailored to your business processes and user needs.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64597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645970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shaped around real user needs and business processes.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6187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618712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API-first builds that integrate cleanly with your existing systems.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7261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Mobile Application Development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3888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MOBILE APP ON SMARTPHONES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1722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17223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and cross-platform mobile apps that deliver seamless experiences across iOS and Android.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61799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617992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Seamless, high-performance experiences across iOS and Android.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66951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669512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cross-platform codebase that cuts cost without losing native feel.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69696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Business Process Optimization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4844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 / OPERATIONS FLOOR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6758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67580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Streamlining workflows and operations to reduce cost, eliminate waste, and improve speed and quality.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60412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604126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cost, less waste, and faster cycle times across operations.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77188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771880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grounded in real process data and proven Lean / Six Sigma methods.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96992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Process, Standards &amp; Compliance Advisory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30577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COMPLIANCE AUDIT / DOCUMENTATION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review of processes against industry standards to strengthen compliance and operational integrity.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65487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654876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Stronger compliance and audit-ready operations with fewer surprises.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79465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79465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Independent, standards-based review with practical remediation, not just findings.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84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700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9500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700" y="1538288"/>
            <a:ext cx="522745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Operational Excellence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4341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315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OPERATIONS TEAM / QUALITY METRICS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disciplined practices that drive consistent, high-quality outcomes across day-to-day operations.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60723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60723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Consistent, high-quality outcomes across day-to-day operations.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71202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712028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embed the practices and culture so improvement sticks after we leave.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33344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68046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Agility &amp; Sustainable Business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6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>
            <a:off x="6097786" y="2700338"/>
            <a:ext cx="1066800" cy="1066800"/>
          </a:xfrm>
          <a:prstGeom prst="roundRect">
            <a:avLst>
              <a:gd name="adj" fmla="val 8036"/>
            </a:avLst>
          </a:prstGeom>
          <a:ln w="9525">
            <a:solidFill>
              <a:srgbClr val="7AA6E0">
                <a:alpha val="3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7786" y="3386138"/>
            <a:ext cx="571500" cy="571500"/>
          </a:xfrm>
          <a:prstGeom prst="roundRect">
            <a:avLst>
              <a:gd name="adj" fmla="val 11667"/>
            </a:avLst>
          </a:prstGeom>
          <a:solidFill>
            <a:srgbClr val="7AA6E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2934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AGILE TEAM COLLABORATION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5156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51569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flexible, resilient capabilities that let organizations adapt quickly while operating responsibly.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51745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517457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flexibility to adapt fast while operating responsibly.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661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661163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 and Green IT built into the operating model, not bolted on.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&amp; Governance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16–21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3343275"/>
            <a:ext cx="9525" cy="360045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3495675"/>
            <a:ext cx="24836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Services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4095750"/>
            <a:ext cx="24245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Compliance &amp; Audit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695825"/>
            <a:ext cx="2878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Chain Management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5295900"/>
            <a:ext cx="2073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 Management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895975"/>
            <a:ext cx="24090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Logistics Management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6496050"/>
            <a:ext cx="39259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Relationship Management</a:t>
            </a:r>
            <a:endParaRPr lang="en-US" sz="17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1652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Services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3888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CENTRE / SERVER ROOM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Designing, deploying, and managing the foundational IT infrastructure that powers reliable business operations.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56128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56128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Dependable, secure infrastructure that scales with demand.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74581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745817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Infrastructure-as-Code and proactive monitoring for uptime you can count on.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495438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Compliance &amp; Audit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5800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&amp; COMPLIANCE AUDIT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Ensuring IT operations meet regulatory, security, and contractual obligations through structured audit practices.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741194"/>
            <a:ext cx="53616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979319"/>
            <a:ext cx="536169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 regulatory and security obligations with confidence.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682234"/>
            <a:ext cx="85741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920359"/>
            <a:ext cx="857419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 27001 / SOC 2 / GDPR readiness, with evidence and remediation tracked end-to-end.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9918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Supply Chain Management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2934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SUPPLY CHAIN / WAREHOUSE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5998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59984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Technology-enabled solutions that improve visibility, efficiency, and resilience across the supply chain.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62444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624442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Greater visibility, efficiency, and resilience across the supply chain.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69858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698587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tracking and forecasting integrated with your existing systems.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43579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Asset Management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6756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ASSET INVENTORY / DEVICES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3269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32694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 and optimizing the lifecycle of IT and business assets to maximize value and minimize risk.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56791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567913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value from every asset and less risk across its lifecycle.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71382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713828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inventory, license, and utilization data that drives real cost savings.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1200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Logistics Management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28667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LOGISTICS FLEET / DISTRIBUTION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4773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47739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Optimizing the movement and storage of goods through smarter planning, tracking, and coordination.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51392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513921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Faster, more reliable movement of goods at lower cost.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69893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69893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Route, fleet, and warehouse optimization backed by actionable analytics.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648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81786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Customer Relationship Management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129" y="30051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8729" y="370998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15000"/>
            </a:srgbClr>
          </a:solidFill>
          <a:ln w="9525">
            <a:solidFill>
              <a:srgbClr val="7AA6E0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7329" y="4414838"/>
            <a:ext cx="5909142" cy="533400"/>
          </a:xfrm>
          <a:prstGeom prst="roundRect">
            <a:avLst>
              <a:gd name="adj" fmla="val 17857"/>
            </a:avLst>
          </a:prstGeom>
          <a:solidFill>
            <a:srgbClr val="7AA6E0">
              <a:alpha val="8000"/>
            </a:srgbClr>
          </a:solidFill>
          <a:ln w="9525">
            <a:solidFill>
              <a:srgbClr val="7AA6E0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</a:t>
            </a:r>
            <a:endParaRPr lang="en-US" sz="14100" dirty="0"/>
          </a:p>
        </p:txBody>
      </p:sp>
      <p:sp>
        <p:nvSpPr>
          <p:cNvPr id="19" name="Shape 16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00" y="2452688"/>
            <a:ext cx="30577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CRM DASHBOARD / CUSTOMER SERVICE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3" name="Text 20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8707636" y="4662934"/>
            <a:ext cx="96579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8707636" y="4901059"/>
            <a:ext cx="965796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Implementing CRM solutions that strengthen customer engagement, retention, and sales performance.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7" name="Shape 24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8" name="Text 25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8707636" y="5603974"/>
            <a:ext cx="6242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707636" y="5842099"/>
            <a:ext cx="62426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Stronger customer engagement, retention, and sales performance.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6545014"/>
            <a:ext cx="70138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6783139"/>
            <a:ext cx="701386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customer data and automation that make every interaction count.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39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8938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4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&amp; Modernization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22–24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4243388"/>
            <a:ext cx="9525" cy="1800225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48339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44481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4395788"/>
            <a:ext cx="2397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Transformation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543401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504825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4995863"/>
            <a:ext cx="3117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Modernization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60340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56483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5595938"/>
            <a:ext cx="28287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Modernization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2556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49863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Transformation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54686" y="6486525"/>
            <a:ext cx="5334000" cy="5334000"/>
          </a:xfrm>
          <a:prstGeom prst="ellipse">
            <a:avLst/>
          </a:prstGeom>
          <a:ln w="254000">
            <a:solidFill>
              <a:srgbClr val="7AA6E0">
                <a:alpha val="13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</a:t>
            </a:r>
            <a:endParaRPr lang="en-US" sz="14100" dirty="0"/>
          </a:p>
        </p:txBody>
      </p:sp>
      <p:sp>
        <p:nvSpPr>
          <p:cNvPr id="17" name="Shape 14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18" name="Text 15"/>
          <p:cNvSpPr/>
          <p:nvPr/>
        </p:nvSpPr>
        <p:spPr>
          <a:xfrm>
            <a:off x="1181100" y="2452688"/>
            <a:ext cx="36311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TRANSFORMATION / MODERN OFFICE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0" name="Shape 17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Reimagining business models, processes, and customer experiences through end-to-end digital adoption.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5" name="Shape 22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6" name="Text 23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8707636" y="5741194"/>
            <a:ext cx="66243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707636" y="5979319"/>
            <a:ext cx="662439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Reinvented experiences and processes that keep you ahead of change.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6682234"/>
            <a:ext cx="67787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6920359"/>
            <a:ext cx="677877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pair digital strategy with adoption so transformation actually lands.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39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23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2556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64205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Modernization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54686" y="6486525"/>
            <a:ext cx="5334000" cy="5334000"/>
          </a:xfrm>
          <a:prstGeom prst="ellipse">
            <a:avLst/>
          </a:prstGeom>
          <a:ln w="254000">
            <a:solidFill>
              <a:srgbClr val="7AA6E0">
                <a:alpha val="13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23</a:t>
            </a:r>
            <a:endParaRPr lang="en-US" sz="14100" dirty="0"/>
          </a:p>
        </p:txBody>
      </p:sp>
      <p:sp>
        <p:nvSpPr>
          <p:cNvPr id="17" name="Shape 14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18" name="Text 15"/>
          <p:cNvSpPr/>
          <p:nvPr/>
        </p:nvSpPr>
        <p:spPr>
          <a:xfrm>
            <a:off x="1181100" y="2452688"/>
            <a:ext cx="30577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INFRASTRUCTURE / MIGRATION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0" name="Shape 17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8707636" y="4662934"/>
            <a:ext cx="9415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8707636" y="4901059"/>
            <a:ext cx="941501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Transforming legacy infrastructure into agile, scalable, cloud-ready environments built for the future.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5" name="Shape 22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6" name="Text 23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8707636" y="5603974"/>
            <a:ext cx="58926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707636" y="5842099"/>
            <a:ext cx="58926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Agile, scalable, cloud-ready infrastructure built for what’s next.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6545014"/>
            <a:ext cx="73457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6783139"/>
            <a:ext cx="73457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Cost-optimized cloud and containerization, with security modernized in step.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39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8400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700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9500" y="1309688"/>
            <a:ext cx="22556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700" y="1538288"/>
            <a:ext cx="58826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Modernization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54686" y="6486525"/>
            <a:ext cx="5334000" cy="5334000"/>
          </a:xfrm>
          <a:prstGeom prst="ellipse">
            <a:avLst/>
          </a:prstGeom>
          <a:ln w="254000">
            <a:solidFill>
              <a:srgbClr val="7AA6E0">
                <a:alpha val="13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0600" y="8029575"/>
            <a:ext cx="2464341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</a:t>
            </a:r>
            <a:endParaRPr lang="en-US" sz="14100" dirty="0"/>
          </a:p>
        </p:txBody>
      </p:sp>
      <p:sp>
        <p:nvSpPr>
          <p:cNvPr id="17" name="Shape 14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18" name="Text 15"/>
          <p:cNvSpPr/>
          <p:nvPr/>
        </p:nvSpPr>
        <p:spPr>
          <a:xfrm>
            <a:off x="1181100" y="2452688"/>
            <a:ext cx="30577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 MODERNIZATION / CODE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0" name="Shape 17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Upgrading legacy applications to modern, maintainable architectures that improve performance and agility.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5" name="Shape 22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26" name="Text 23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8707636" y="5741194"/>
            <a:ext cx="71207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707636" y="5979319"/>
            <a:ext cx="712077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Better performance and agility from applications that are easier to maintain.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0" name="Text 27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707636" y="6682234"/>
            <a:ext cx="7244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707636" y="6920359"/>
            <a:ext cx="724470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Low-risk, incremental migration that cuts technical debt without disruption.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39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5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AI, Data &amp; Digital Growth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25–32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2743200"/>
            <a:ext cx="9525" cy="480060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3337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29479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2895600"/>
            <a:ext cx="2244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495675"/>
            <a:ext cx="1897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095750"/>
            <a:ext cx="155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695825"/>
            <a:ext cx="3127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 Language Processing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295900"/>
            <a:ext cx="15473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Analytics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5895975"/>
            <a:ext cx="18221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Marketing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496050"/>
            <a:ext cx="2975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Engine Optimization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0115550" y="75342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15550" y="71485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610850" y="7096125"/>
            <a:ext cx="2502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 (Internet of Things)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46336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Artificial Intelligence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3440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ARTIFICIAL INTELLIGENCE / NEURAL NET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662934"/>
            <a:ext cx="89901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901059"/>
            <a:ext cx="899018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Applying AI to automate decisions, unlock insights, and create intelligent products and services.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603974"/>
            <a:ext cx="69439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842099"/>
            <a:ext cx="694396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Smarter decisions and automation that create real competitive advantage.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545014"/>
            <a:ext cx="86866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783139"/>
            <a:ext cx="86866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Production-ready AI — including LLM and agentic solutions — with responsible governance.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26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40104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Machine Learning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26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315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 LEARNING / DATA SCIENTIST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662934"/>
            <a:ext cx="91044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901059"/>
            <a:ext cx="910445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predictive and adaptive models that learn from data to improve decisions and outcomes.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603974"/>
            <a:ext cx="626325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842099"/>
            <a:ext cx="626325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insight that improves decisions and outcomes over time.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545014"/>
            <a:ext cx="79529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783139"/>
            <a:ext cx="795291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Robust MLOps that keeps models accurate, monitored, and retrained in production.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27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32562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Deep Learning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27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9623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LEARNING / COMPUTER VISION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Leveraging neural network architectures to solve complex problems in vision, language, and pattern recognition.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741194"/>
            <a:ext cx="79208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979319"/>
            <a:ext cx="792082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Solving complex vision, language, and pattern problems beyond traditional methods.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682234"/>
            <a:ext cx="72661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920359"/>
            <a:ext cx="726614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 training and transfer learning that reach results faster and cheaper.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28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661785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Natural Language Processing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28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2934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CONVERSATIONAL AI / CHAT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Enabling systems to understand, generate, and act on human language for smarter automation and insights.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741194"/>
            <a:ext cx="58145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979319"/>
            <a:ext cx="581452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that understand and act on human language at scale.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682234"/>
            <a:ext cx="66718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920359"/>
            <a:ext cx="667187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LLM-powered solutions tuned to your domain, data, and tone of voice.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29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32585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Analytics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29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2934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ANALYTICS DASHBOARD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662934"/>
            <a:ext cx="9023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901059"/>
            <a:ext cx="902374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raw data into actionable insight through structured analysis, visualization, and reporting.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603974"/>
            <a:ext cx="62943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842099"/>
            <a:ext cx="629435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Confident, data-driven decisions across every level of the business.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545014"/>
            <a:ext cx="67604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783139"/>
            <a:ext cx="676044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Trusted pipelines and governance so insight is accurate and self-serve.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3805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Marketing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4844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MARKETING CAMPAIGN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52211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52586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5258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525863"/>
            <a:ext cx="97209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763988"/>
            <a:ext cx="9102383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Driving brand growth and customer acquisition through integrated, data-informed digital marketing strategies.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46315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7411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7411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741194"/>
            <a:ext cx="63729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979319"/>
            <a:ext cx="637293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reach, engagement, and qualified pipeline from every channel.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6822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6822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682234"/>
            <a:ext cx="70669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920359"/>
            <a:ext cx="70669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Data-informed campaigns optimized continuously against real attribution.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62066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Search Engine Optimization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1022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SEO / SEARCH ANALYTICS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662934"/>
            <a:ext cx="91917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901059"/>
            <a:ext cx="919171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Improving organic visibility and search rankings to drive sustainable, high-quality traffic and leads.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603974"/>
            <a:ext cx="57197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842099"/>
            <a:ext cx="571973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Sustainable organic visibility and high-quality inbound traffic.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545014"/>
            <a:ext cx="71184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783139"/>
            <a:ext cx="711847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Technical, content, and authority work combined for compounding results.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286500" cy="62865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14350"/>
            <a:ext cx="428030" cy="29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805" y="561975"/>
            <a:ext cx="11266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28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6024771" y="576263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2950" y="981075"/>
            <a:ext cx="168021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488877"/>
            <a:ext cx="767804" cy="50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500" b="1" kern="0" spc="-90" dirty="0">
                <a:solidFill>
                  <a:srgbClr val="0F509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644104" y="1371600"/>
            <a:ext cx="2095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948904" y="1309688"/>
            <a:ext cx="24517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62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4104" y="1538288"/>
            <a:ext cx="507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IoT (Internet of Things)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742950" y="2185988"/>
            <a:ext cx="6840736" cy="7348538"/>
          </a:xfrm>
          <a:prstGeom prst="roundRect">
            <a:avLst>
              <a:gd name="adj" fmla="val 2228"/>
            </a:avLst>
          </a:prstGeom>
          <a:ln/>
          <a:effectLst>
            <a:outerShdw blurRad="285750" dist="95250" dir="5400000" algn="bl" rotWithShape="0">
              <a:srgbClr val="0B27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123861">
                  <a:alpha val="100000"/>
                </a:srgbClr>
              </a:gs>
            </a:gsLst>
            <a:lin ang="3000000" scaled="0"/>
          </a:gradFill>
          <a:ln/>
        </p:spPr>
      </p:sp>
      <p:sp>
        <p:nvSpPr>
          <p:cNvPr id="14" name="Shape 11"/>
          <p:cNvSpPr/>
          <p:nvPr/>
        </p:nvSpPr>
        <p:spPr>
          <a:xfrm>
            <a:off x="5011936" y="661988"/>
            <a:ext cx="4000500" cy="4000500"/>
          </a:xfrm>
          <a:prstGeom prst="ellipse">
            <a:avLst/>
          </a:prstGeom>
          <a:ln w="9525">
            <a:solidFill>
              <a:srgbClr val="7AA6E0">
                <a:alpha val="1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2950" y="2185988"/>
            <a:ext cx="6840736" cy="7348538"/>
          </a:xfrm>
          <a:prstGeom prst="rect">
            <a:avLst/>
          </a:prstGeom>
          <a:gradFill rotWithShape="1">
            <a:gsLst>
              <a:gs pos="0">
                <a:srgbClr val="7AA6E0">
                  <a:alpha val="20000"/>
                </a:srgbClr>
              </a:gs>
              <a:gs pos="100000">
                <a:srgbClr val="7AA6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Shape 13"/>
          <p:cNvSpPr/>
          <p:nvPr/>
        </p:nvSpPr>
        <p:spPr>
          <a:xfrm rot="1560000">
            <a:off x="1194181" y="3691213"/>
            <a:ext cx="200025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50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Shape 14"/>
          <p:cNvSpPr/>
          <p:nvPr/>
        </p:nvSpPr>
        <p:spPr>
          <a:xfrm rot="-1919999">
            <a:off x="1755689" y="3979614"/>
            <a:ext cx="1714500" cy="19050"/>
          </a:xfrm>
          <a:prstGeom prst="rect">
            <a:avLst/>
          </a:prstGeom>
          <a:gradFill rotWithShape="1">
            <a:gsLst>
              <a:gs pos="0">
                <a:srgbClr val="8FB4E6">
                  <a:alpha val="45000"/>
                </a:srgbClr>
              </a:gs>
              <a:gs pos="100000">
                <a:srgbClr val="8FB4E6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238250" y="3195638"/>
            <a:ext cx="123825" cy="123825"/>
          </a:xfrm>
          <a:prstGeom prst="ellipse">
            <a:avLst/>
          </a:prstGeom>
          <a:solidFill>
            <a:srgbClr val="8FB4E6"/>
          </a:solidFill>
          <a:ln/>
          <a:effectLst>
            <a:outerShdw blurRad="152400" dist="50800" dir="16200000" algn="bl" rotWithShape="0">
              <a:srgbClr val="8FB4E6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43250" y="3767138"/>
            <a:ext cx="95250" cy="95250"/>
          </a:xfrm>
          <a:prstGeom prst="ellipse">
            <a:avLst/>
          </a:prstGeom>
          <a:solidFill>
            <a:srgbClr val="8FB4E6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09750" y="4376738"/>
            <a:ext cx="104775" cy="104775"/>
          </a:xfrm>
          <a:prstGeom prst="ellipse">
            <a:avLst/>
          </a:prstGeom>
          <a:solidFill>
            <a:srgbClr val="8FB4E6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67100" y="4586288"/>
            <a:ext cx="85725" cy="85725"/>
          </a:xfrm>
          <a:prstGeom prst="ellipse">
            <a:avLst/>
          </a:prstGeom>
          <a:solidFill>
            <a:srgbClr val="8FB4E6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90600" y="8029575"/>
            <a:ext cx="246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0" b="1" dirty="0">
                <a:solidFill>
                  <a:srgbClr val="7AA6E0">
                    <a:alpha val="11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</a:t>
            </a:r>
            <a:endParaRPr lang="en-US" sz="14100" dirty="0"/>
          </a:p>
        </p:txBody>
      </p:sp>
      <p:sp>
        <p:nvSpPr>
          <p:cNvPr id="23" name="Shape 20"/>
          <p:cNvSpPr/>
          <p:nvPr/>
        </p:nvSpPr>
        <p:spPr>
          <a:xfrm>
            <a:off x="1028700" y="2490788"/>
            <a:ext cx="66675" cy="66675"/>
          </a:xfrm>
          <a:prstGeom prst="ellipse">
            <a:avLst/>
          </a:prstGeom>
          <a:solidFill>
            <a:srgbClr val="8FB4E6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2452688"/>
            <a:ext cx="29623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B4CAE4">
                    <a:alpha val="8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IOT CONNECTED DEVICES / SENSORS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8036" y="538489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26" name="Shape 23"/>
          <p:cNvSpPr/>
          <p:nvPr/>
        </p:nvSpPr>
        <p:spPr>
          <a:xfrm>
            <a:off x="8098036" y="466293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0F5090"/>
          </a:solidFill>
          <a:ln/>
        </p:spPr>
      </p:sp>
      <p:sp>
        <p:nvSpPr>
          <p:cNvPr id="27" name="Text 24"/>
          <p:cNvSpPr/>
          <p:nvPr/>
        </p:nvSpPr>
        <p:spPr>
          <a:xfrm>
            <a:off x="8059936" y="466293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8707636" y="4662934"/>
            <a:ext cx="9507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07636" y="4901059"/>
            <a:ext cx="950784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Connecting devices and sensors to capture real-time data and enable smarter, automated operations.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98036" y="6325939"/>
            <a:ext cx="9446865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31" name="Shape 28"/>
          <p:cNvSpPr/>
          <p:nvPr/>
        </p:nvSpPr>
        <p:spPr>
          <a:xfrm>
            <a:off x="8098036" y="560397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2E6DB0"/>
          </a:solidFill>
          <a:ln/>
        </p:spPr>
      </p:sp>
      <p:sp>
        <p:nvSpPr>
          <p:cNvPr id="32" name="Text 29"/>
          <p:cNvSpPr/>
          <p:nvPr/>
        </p:nvSpPr>
        <p:spPr>
          <a:xfrm>
            <a:off x="8059936" y="560397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707636" y="5603974"/>
            <a:ext cx="68057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2E6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BENEFIT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8707636" y="5842099"/>
            <a:ext cx="680579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3348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visibility and automation from connected devices and sensors.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98036" y="654501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D8AC8"/>
          </a:solidFill>
          <a:ln/>
        </p:spPr>
      </p:sp>
      <p:sp>
        <p:nvSpPr>
          <p:cNvPr id="36" name="Text 33"/>
          <p:cNvSpPr/>
          <p:nvPr/>
        </p:nvSpPr>
        <p:spPr>
          <a:xfrm>
            <a:off x="8059936" y="654501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707636" y="6545014"/>
            <a:ext cx="77700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3D7C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VALUE ADD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8707636" y="6783139"/>
            <a:ext cx="777004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500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IoT — from edge to dashboard — with predictive maintenance built in.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42950" y="97059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39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15015270" y="97059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4576">
                  <a:alpha val="100000"/>
                </a:srgbClr>
              </a:gs>
              <a:gs pos="52000">
                <a:srgbClr val="0B2747">
                  <a:alpha val="100000"/>
                </a:srgbClr>
              </a:gs>
              <a:gs pos="100000">
                <a:srgbClr val="07182E">
                  <a:alpha val="100000"/>
                </a:srgbClr>
              </a:gs>
            </a:gsLst>
            <a:path path="circle">
              <a:fillToRect t="100000" r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95500" y="-2857500"/>
            <a:ext cx="7048500" cy="7048500"/>
          </a:xfrm>
          <a:prstGeom prst="ellipse">
            <a:avLst/>
          </a:prstGeom>
          <a:ln w="254000">
            <a:solidFill>
              <a:srgbClr val="3D82C4">
                <a:alpha val="9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505075"/>
            <a:ext cx="579983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4883" y="2571750"/>
            <a:ext cx="1619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2500" y="3362325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kern="0" spc="-135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Let's Build What's Next, Together</a:t>
            </a:r>
            <a:endParaRPr lang="en-US" sz="6750" dirty="0"/>
          </a:p>
        </p:txBody>
      </p:sp>
      <p:sp>
        <p:nvSpPr>
          <p:cNvPr id="7" name="Text 4"/>
          <p:cNvSpPr/>
          <p:nvPr/>
        </p:nvSpPr>
        <p:spPr>
          <a:xfrm>
            <a:off x="952500" y="5381625"/>
            <a:ext cx="98107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strategy and architecture to engineering, infrastructure, and AI — Zivande is your end-to-end technology partner.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52500" y="6810375"/>
            <a:ext cx="16383000" cy="9525"/>
          </a:xfrm>
          <a:prstGeom prst="rect">
            <a:avLst/>
          </a:prstGeom>
          <a:solidFill>
            <a:srgbClr val="A9C2DD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7200900"/>
            <a:ext cx="22883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52500" y="7458075"/>
            <a:ext cx="22883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www.zivande.com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3794820" y="7200900"/>
            <a:ext cx="21473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975" dirty="0"/>
          </a:p>
        </p:txBody>
      </p:sp>
      <p:sp>
        <p:nvSpPr>
          <p:cNvPr id="12" name="Text 9">
            <a:hlinkClick r:id="rId4"/>
          </p:cNvPr>
          <p:cNvSpPr/>
          <p:nvPr/>
        </p:nvSpPr>
        <p:spPr>
          <a:xfrm>
            <a:off x="3794820" y="7458075"/>
            <a:ext cx="21473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u="sng" dirty="0">
                <a:solidFill>
                  <a:srgbClr val="0000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4230</Words>
  <Application>Microsoft Office PowerPoint</Application>
  <PresentationFormat>Custom</PresentationFormat>
  <Paragraphs>756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Archivo</vt:lpstr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1</cp:revision>
  <dcterms:created xsi:type="dcterms:W3CDTF">2026-06-19T10:06:53Z</dcterms:created>
  <dcterms:modified xsi:type="dcterms:W3CDTF">2026-06-19T10:14:47Z</dcterms:modified>
</cp:coreProperties>
</file>