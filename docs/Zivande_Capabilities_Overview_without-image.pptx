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5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Zivande is your end-to-end IT partner. This deck covers 32 capabilities across 5 practice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IT Advisory — Sections 01–08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Services — End-to-end technology services that help enterprises plan, build, run, and continuously improve their IT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Consulting — Independent, outcomes-driven advisory that aligns technology investment with business strategy and growth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Operating Model — Designing the future-state structure of people, process, and technology needed to deliver your business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Governance Model — Frameworks that ensure IT decisions, investments, and risk are managed consistently and transparently across the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IT Assessment — Comprehensive evaluation of your current IT landscape to identify gaps, risks, and opportunities for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Architecture — Building a unified architecture blueprint that connects business strategy, applications, data, and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Capability Management — Mapping and managing organizational capabilities to ensure technology investment delivers measurable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&amp; Service Value Strategy — Crafting product and service strategies that maximize customer value and long-term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&amp; Application Engineering — Sections 09–15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Development — Custom software engineering delivered with modern practices to build reliable, scalable, and secure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Development — Designing and building web and enterprise applications tailored to your business processes and user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Application Development — Native and cross-platform mobile apps that deliver seamless experiences across iOS and Android.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Process Optimization — Streamlining workflows and operations to reduce cost, eliminate waste, and improve speed and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Process, Standards &amp; Compliance Advisory — Independent review of processes against industry standards to strengthen compliance and operational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Excellence — Embedding disciplined practices that drive consistent, high-quality outcomes across day-to-day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Agility &amp; Sustainable Business — Building flexible, resilient capabilities that let organizations adapt quickly while operating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&amp; Governance — Sections 16–21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Services — Designing, deploying, and managing the foundational IT infrastructure that powers reliable business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Compliance &amp; Audit — Ensuring IT operations meet regulatory, security, and contractual obligations through structured audit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Chain Management — Technology-enabled solutions that improve visibility, efficiency, and resilience across the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Management — Tracking and optimizing the lifecycle of IT and business assets to maximize value and minimize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 Management — Optimizing the movement and storage of goods through smarter planning, tracking, and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Relationship Management — Implementing CRM solutions that strengthen customer engagement, retention, and sales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&amp; Modernization — Sections 22–24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Transformation — Reimagining business models, processes, and customer experiences through end-to-end digital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Modernization — Transforming legacy infrastructure into agile, scalable, cloud-ready environments built for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Modernization — Upgrading legacy applications to modern, maintainable architectures that improve performance and agility.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AI, Data &amp; Digital Growth — Sections 25–32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Intelligence — Applying AI to automate decisions, unlock insights, and create intelligent products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— Building predictive and adaptive models that learn from data to improve decisions and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Learning — Leveraging neural network architectures to solve complex problems in vision, language, and pattern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Language Processing — Enabling systems to understand, generate, and act on human language for smarter automation and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Analytics — Turning raw data into actionable insight through structured analysis, visualization,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Marketing — Driving brand growth and customer acquisition through integrated, data-informed digital marketing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Engine Optimization — Improving organic visibility and search rankings to drive sustainable, high-quality traffic and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 (Internet of Things) — Connecting devices and sensors to capture real-time data and enable smarter, automated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CTA and contact details. Confirm the correct web/email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85095d-081e-4525-8e34-3f909ec38e25.claudeusercontent.com/cdn-cgi/l/email-pro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4576">
                  <a:alpha val="100000"/>
                </a:srgbClr>
              </a:gs>
              <a:gs pos="52000">
                <a:srgbClr val="0B2747">
                  <a:alpha val="100000"/>
                </a:srgbClr>
              </a:gs>
              <a:gs pos="100000">
                <a:srgbClr val="07182E">
                  <a:alpha val="100000"/>
                </a:srgbClr>
              </a:gs>
            </a:gsLst>
            <a:path path="circle">
              <a:fillToRect l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2573000" y="6096000"/>
            <a:ext cx="7429500" cy="7429500"/>
          </a:xfrm>
          <a:prstGeom prst="ellipse">
            <a:avLst/>
          </a:prstGeom>
          <a:ln w="9525">
            <a:solidFill>
              <a:srgbClr val="7AA6E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5750" y="6477000"/>
            <a:ext cx="7429500" cy="7429500"/>
          </a:xfrm>
          <a:prstGeom prst="ellipse">
            <a:avLst/>
          </a:prstGeom>
          <a:ln w="254000">
            <a:solidFill>
              <a:srgbClr val="3D82C4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800100"/>
            <a:ext cx="66288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7780" y="876300"/>
            <a:ext cx="18684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405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52500" y="3133725"/>
            <a:ext cx="5334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8" name="Text 5"/>
          <p:cNvSpPr/>
          <p:nvPr/>
        </p:nvSpPr>
        <p:spPr>
          <a:xfrm>
            <a:off x="1657350" y="3033713"/>
            <a:ext cx="39840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59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 DECK · 2026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2500" y="3576638"/>
            <a:ext cx="1216533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156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Services &amp; Capabilities Overview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952500" y="5900738"/>
            <a:ext cx="88296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complete partner for IT strategy, engineering, infrastructure, and digital innovation.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A9C2DD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8829675"/>
            <a:ext cx="14334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952500" y="9305925"/>
            <a:ext cx="143345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2922389" y="8829675"/>
            <a:ext cx="16723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3150" dirty="0"/>
          </a:p>
        </p:txBody>
      </p:sp>
      <p:sp>
        <p:nvSpPr>
          <p:cNvPr id="15" name="Text 12"/>
          <p:cNvSpPr/>
          <p:nvPr/>
        </p:nvSpPr>
        <p:spPr>
          <a:xfrm>
            <a:off x="2922389" y="9305925"/>
            <a:ext cx="167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 AREAS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5109418" y="8829675"/>
            <a:ext cx="21500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5109418" y="9305925"/>
            <a:ext cx="21500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END-TO-END PARTNER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5535275" y="9267825"/>
            <a:ext cx="19802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www.zivande.com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4312890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4227165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703415"/>
            <a:ext cx="8539163" cy="822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Strategic IT Advisory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575488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01–08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2743200"/>
            <a:ext cx="9525" cy="480060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3337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29479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2895600"/>
            <a:ext cx="11678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Services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495675"/>
            <a:ext cx="14385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Consulting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095750"/>
            <a:ext cx="25250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Operating Model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695825"/>
            <a:ext cx="23070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Governance Model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295900"/>
            <a:ext cx="27837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IT Assessment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5895975"/>
            <a:ext cx="25149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Architecture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496050"/>
            <a:ext cx="37232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Capability Management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0115550" y="75342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15550" y="71485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610850" y="7096125"/>
            <a:ext cx="35454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&amp; Service Value Strategy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Services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technology services that help enterprises plan, build, run, and continuously improve their IT landscape.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IT operations &amp; support desk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strategy and roadmap planning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&amp; SLA management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 delivery across on-prem and cloud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Consulting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Independent, outcomes-driven advisory that aligns technology investment with business strategy and growth goals.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due-diligence &amp; feasibility studies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cost optimization advisory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604421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490246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&amp; tool selection guidance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604421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490246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and opportunity assessment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Target Operating Model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the future-state structure of people, process, and technology needed to deliver your business strategy.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vs future-state operating model design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 &amp; role design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604421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490246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and capability alignment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604421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490246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Transition roadmap &amp; change planning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263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Governance Model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Frameworks that ensure IT decisions, investments, and risk are managed consistently and transparently across the enterprise.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structure &amp; decision rights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and control framework design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steering committee enablement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Risk, compliance &amp; performance oversight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IT Assessment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evaluation of your current IT landscape to identify gaps, risks, and opportunities for improvement.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&amp; application health checks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15056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Maturity benchmarking against industry standards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604421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490246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debt and risk identification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604421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490246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Prioritized improvement roadmap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Architecture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a unified architecture blueprint that connects business strategy, applications, data, and infrastructure.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53585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83113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394543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03115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42168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Business, application &amp; data architecture design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53585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83113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394543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03115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421684"/>
            <a:ext cx="415056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standards &amp; reference architectures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governance and roadmaps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15056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Alignment with TOGAF / industry frameworks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Enterprise Capability Management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Mapping and managing organizational capabilities to ensure technology investment delivers measurable business value.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mapping &amp; heat-mapping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Investment prioritization by business value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maturity tracking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analysis and capability uplift plans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231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IT ADVISORY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&amp; Service Value Strategy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Crafting product and service strategies that maximize customer value and long-term competitive advantage.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Product/service portfolio strategy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proposition design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Go-to-market and pricing strategy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&amp; roadmap management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528120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442395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2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3918645"/>
            <a:ext cx="7995761" cy="239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Software &amp; Application Engineering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539657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09–15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3043238"/>
            <a:ext cx="9525" cy="4200525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6337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32480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3195638"/>
            <a:ext cx="24697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Development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423386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84810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795713"/>
            <a:ext cx="27287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Development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8339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4481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395788"/>
            <a:ext cx="35140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 Application Development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43401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504825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995863"/>
            <a:ext cx="33208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Process Optimization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60340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6483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595938"/>
            <a:ext cx="46276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Process, Standards &amp; Compliance Advisory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63416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624840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6196013"/>
            <a:ext cx="24897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Excellence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72342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8484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796088"/>
            <a:ext cx="32540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&amp; Sustainable Business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Software Development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software engineering delivered with modern practices to build reliable, scalable, and secure solutions.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software design &amp; build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Agile / DevOps delivery practices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engineering &amp; automated testing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coding and code review standards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Development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and building web and enterprise applications tailored to your business processes and user needs.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&amp; enterprise application development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API-first and microservices architecture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UI/UX-focused front-end engineering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with third-party systems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Mobile Application Development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and cross-platform mobile apps that deliver seamless experiences across iOS and Android.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iOS, Android &amp; cross-platform development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Native / Flutter expertise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3683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25420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store deployment &amp; release management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3683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2542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Performance, security &amp; offline-first design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Business Process Optimization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Streamlining workflows and operations to reduce cost, eliminate waste, and improve speed and quality.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mapping &amp; bottleneck analysis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automation &amp; re-engineering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BPM tooling implementation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improvement (Lean / Six Sigma)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Process, Standards &amp; Compliance Advisory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review of processes against industry standards to strengthen compliance and operational integrity.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&amp; standards gap assessment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Regulatory compliance advisory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and SOP development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readiness support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263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Operational Excellence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disciplined practices that drive consistent, high-quality outcomes across day-to-day operations.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management frameworks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and productivity benchmarking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operating procedures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improvement culture building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36122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SOFTWARE &amp; APPLICATION ENGINEERING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Agility &amp; Sustainable Business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flexible, resilient capabilities that let organizations adapt quickly while operating responsibly.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Agile transformation enablement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 and business continuity planning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Sustainable technology practices (Green IT)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operating models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&amp; Governance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16–21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3343275"/>
            <a:ext cx="9525" cy="360045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3495675"/>
            <a:ext cx="24836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Services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4095750"/>
            <a:ext cx="24245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Compliance &amp; Audit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695825"/>
            <a:ext cx="2878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Chain Management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5295900"/>
            <a:ext cx="2073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 Management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895975"/>
            <a:ext cx="24090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Logistics Management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6496050"/>
            <a:ext cx="39259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Relationship Management</a:t>
            </a:r>
            <a:endParaRPr lang="en-US" sz="17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Services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Designing, deploying, and managing the foundational IT infrastructure that powers reliable business operations.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Server, network &amp; storage management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infrastructure (AWS / Azure / GCP)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Monitoring, backup &amp; disaster recovery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Infrastructure-as-Code automation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 Compliance &amp; Audit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Ensuring IT operations meet regulatory, security, and contractual obligations through structured audit practices.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controls and compliance audits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 27001 / SOC 2 / GDPR readiness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3683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25420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documentation &amp; evidence management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3683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2542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Remediation tracking and reporting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Supply Chain Management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Technology-enabled solutions that improve visibility, efficiency, and resilience across the supply chain.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chain process digitization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planning &amp; forecasting tools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&amp; procurement system integration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tracking and visibility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Asset Management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 and optimizing the lifecycle of IT and business assets to maximize value and minimize risk.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asset inventory &amp; lifecycle tracking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License &amp; contract management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 utilization analytics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Depreciation and cost optimization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Logistics Management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Optimizing the movement and storage of goods through smarter planning, tracking, and coordination.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&amp; fleet optimization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Warehouse management systems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 and order tracking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Logistics analytics &amp; reporting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8685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INFRASTRUCTURE &amp; GOVERNANCE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Customer Relationship Management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Implementing CRM solutions that strengthen customer engagement, retention, and sales performance.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15040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CRM platform implementation &amp; customization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&amp; marketing automation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604421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490246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data unification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604421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8996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6013996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6099721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490246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Engagement and retention analytics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8938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4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&amp; Modernization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22–24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4243388"/>
            <a:ext cx="9525" cy="1800225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483393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444817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4395788"/>
            <a:ext cx="2397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Transformation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5434013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5048250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4995863"/>
            <a:ext cx="3117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 Modernization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6034088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5648325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5595938"/>
            <a:ext cx="28287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Modernization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4437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Transformation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Reimagining business models, processes, and customer experiences through end-to-end digital adoption.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strategy &amp; roadmap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Legacy-to-digital process transformation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management &amp; adoption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customer experience design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23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23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4437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Infrastructure Modernization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Transforming legacy infrastructure into agile, scalable, cloud-ready environments built for the future.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653879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539704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migration &amp; hybrid cloud strategy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653879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39491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0634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1491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539704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Containerization (Docker / Kubernetes)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368379"/>
            <a:ext cx="4581971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254204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and security modernization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368379"/>
            <a:ext cx="4582120" cy="1740991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66365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777954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863679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254204"/>
            <a:ext cx="415056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Cost-optimized infrastructure re-architecture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24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263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4437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&amp; MODERNIZATION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Application Modernization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Upgrading legacy applications to modern, maintainable architectures that improve performance and agility.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re-platforming &amp; re-architecting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Monolith-to-microservices migration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enablement of legacy systems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debt reduction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2747">
                  <a:alpha val="100000"/>
                </a:srgbClr>
              </a:gs>
              <a:gs pos="100000">
                <a:srgbClr val="0E325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5715000" cy="5715000"/>
          </a:xfrm>
          <a:prstGeom prst="ellipse">
            <a:avLst/>
          </a:prstGeom>
          <a:ln w="9525">
            <a:solidFill>
              <a:srgbClr val="7AA6E0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7905750"/>
            <a:ext cx="20955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7AA6E0">
                    <a:alpha val="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952500" y="3920579"/>
            <a:ext cx="457200" cy="19050"/>
          </a:xfrm>
          <a:prstGeom prst="rect">
            <a:avLst/>
          </a:prstGeom>
          <a:solidFill>
            <a:srgbClr val="7AA6E0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834854"/>
            <a:ext cx="1659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360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5 OF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311104"/>
            <a:ext cx="7995761" cy="1607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0" b="1" kern="0" spc="-9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AI, Data &amp; Digital Growth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52500" y="6147346"/>
            <a:ext cx="85391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Sections 25–32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72625" y="2743200"/>
            <a:ext cx="9525" cy="4800600"/>
          </a:xfrm>
          <a:prstGeom prst="rect">
            <a:avLst/>
          </a:prstGeom>
          <a:solidFill>
            <a:srgbClr val="A9C2D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15550" y="33337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15550" y="29479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610850" y="2895600"/>
            <a:ext cx="2244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115550" y="39338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15550" y="35480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610850" y="3495675"/>
            <a:ext cx="1897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115550" y="45339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15550" y="4148137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10850" y="4095750"/>
            <a:ext cx="155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115550" y="51339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15550" y="47482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610850" y="4695825"/>
            <a:ext cx="31275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 Language Processing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573405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15550" y="534828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610850" y="5295900"/>
            <a:ext cx="15473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Analytics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15550" y="633412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115550" y="594836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610850" y="5895975"/>
            <a:ext cx="18221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Marketing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115550" y="6934200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15550" y="6548438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10850" y="6496050"/>
            <a:ext cx="2975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Engine Optimization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0115550" y="7534275"/>
            <a:ext cx="7219950" cy="9525"/>
          </a:xfrm>
          <a:prstGeom prst="rect">
            <a:avLst/>
          </a:prstGeom>
          <a:solidFill>
            <a:srgbClr val="A9C2DD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15550" y="7148513"/>
            <a:ext cx="3429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A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610850" y="7096125"/>
            <a:ext cx="2502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3EC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 (Internet of Things)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25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Applying AI to automate decisions, unlock insights, and create intelligent products and services.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strategy &amp; use-case identification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automation solutions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model integration (incl. LLM / Agentic AI)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Responsible AI governance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26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540472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26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416772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345335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716810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524500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800725"/>
            <a:ext cx="5101590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predictive and adaptive models that learn from data to improve decisions and outcomes.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modeling &amp; forecasting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 &amp; classification systems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pipeline design &amp; MLOps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monitoring and retraining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27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27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Leveraging neural network architectures to solve complex problems in vision, language, and pattern recognition.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 vision solutions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Neural network design &amp; training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 learning with pre-trained models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GPU-accelerated training pipelines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28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090714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28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3967014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3895576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267051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Natural Language Processing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634782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911007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Enabling systems to understand, generate, and act on human language for smarter automation and insights.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Chatbots &amp; conversational AI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classification &amp; sentiment analysis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understanding &amp; extraction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LLM-powered language solutions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29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540472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29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416772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345335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716810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Analytics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524500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800725"/>
            <a:ext cx="5101590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raw data into actionable insight through structured analysis, visualization, and reporting.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warehousing &amp; pipeline design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intelligence dashboards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Descriptive &amp; predictive analytics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governance and quality management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30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Digital Marketing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Driving brand growth and customer acquisition through integrated, data-informed digital marketing strategies.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Multi-channel campaign strategy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&amp; social media marketing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Marketing analytics &amp; attribution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 rate optimization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31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260527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136827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065389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436864"/>
            <a:ext cx="6709327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Search Engine Optimization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804595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6080820"/>
            <a:ext cx="5101590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Improving organic visibility and search rankings to drive sustainable, high-quality traffic and leads.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SEO audits &amp; fixes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Keyword strategy &amp; content optimization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building &amp; authority growth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performance analytics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0" y="6858000"/>
            <a:ext cx="6096000" cy="6096000"/>
          </a:xfrm>
          <a:prstGeom prst="ellipse">
            <a:avLst/>
          </a:prstGeom>
          <a:ln w="254000">
            <a:solidFill>
              <a:srgbClr val="0F5090">
                <a:alpha val="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609600"/>
            <a:ext cx="469553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0153" y="666750"/>
            <a:ext cx="1237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25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5910471" y="685800"/>
            <a:ext cx="1672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32 / 32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250" y="1162050"/>
            <a:ext cx="16573500" cy="9525"/>
          </a:xfrm>
          <a:prstGeom prst="rect">
            <a:avLst/>
          </a:prstGeom>
          <a:solidFill>
            <a:srgbClr val="E2EAF3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" y="3370808"/>
            <a:ext cx="27503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750" b="1" dirty="0">
                <a:solidFill>
                  <a:srgbClr val="0F5090">
                    <a:alpha val="7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32</a:t>
            </a:r>
            <a:endParaRPr lang="en-US" sz="15750" dirty="0"/>
          </a:p>
        </p:txBody>
      </p:sp>
      <p:sp>
        <p:nvSpPr>
          <p:cNvPr id="9" name="Shape 6"/>
          <p:cNvSpPr/>
          <p:nvPr/>
        </p:nvSpPr>
        <p:spPr>
          <a:xfrm>
            <a:off x="857250" y="4247108"/>
            <a:ext cx="247650" cy="19050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0" name="Text 7"/>
          <p:cNvSpPr/>
          <p:nvPr/>
        </p:nvSpPr>
        <p:spPr>
          <a:xfrm>
            <a:off x="1209675" y="4175671"/>
            <a:ext cx="26560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F50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AI, DATA &amp; DIGITAL GROWTH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57250" y="4547146"/>
            <a:ext cx="71653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42" dirty="0">
                <a:solidFill>
                  <a:srgbClr val="1222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IoT (Internet of Things)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857250" y="5354836"/>
            <a:ext cx="609600" cy="28575"/>
          </a:xfrm>
          <a:prstGeom prst="rect">
            <a:avLst/>
          </a:prstGeom>
          <a:solidFill>
            <a:srgbClr val="0F509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5631061"/>
            <a:ext cx="5101590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5465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Connecting devices and sensors to capture real-time data and enable smarter, automated operations.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8056959" y="37719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3184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205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6584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184" y="46577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 solution architecture &amp; deployment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2848481" y="37719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3124706" y="4067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1" name="Text 18"/>
          <p:cNvSpPr/>
          <p:nvPr/>
        </p:nvSpPr>
        <p:spPr>
          <a:xfrm>
            <a:off x="13242727" y="41814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658106" y="42672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3" name="Text 20"/>
          <p:cNvSpPr/>
          <p:nvPr/>
        </p:nvSpPr>
        <p:spPr>
          <a:xfrm>
            <a:off x="13124706" y="46577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 integration &amp; edge computing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56959" y="5486400"/>
            <a:ext cx="4581971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3184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451205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66584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28" name="Text 25"/>
          <p:cNvSpPr/>
          <p:nvPr/>
        </p:nvSpPr>
        <p:spPr>
          <a:xfrm>
            <a:off x="8333184" y="6372225"/>
            <a:ext cx="4432474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monitoring dashboards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12848481" y="5486400"/>
            <a:ext cx="4582120" cy="1504950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9525">
            <a:solidFill>
              <a:srgbClr val="E2EAF3"/>
            </a:solidFill>
            <a:prstDash val="solid"/>
          </a:ln>
          <a:effectLst>
            <a:outerShdw blurRad="114300" dist="19050" dir="5400000" algn="bl" rotWithShape="0">
              <a:srgbClr val="122236">
                <a:alpha val="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3124706" y="57816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5090"/>
          </a:solidFill>
          <a:ln/>
        </p:spPr>
      </p:sp>
      <p:sp>
        <p:nvSpPr>
          <p:cNvPr id="31" name="Text 28"/>
          <p:cNvSpPr/>
          <p:nvPr/>
        </p:nvSpPr>
        <p:spPr>
          <a:xfrm>
            <a:off x="13242727" y="589597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3658106" y="5981700"/>
            <a:ext cx="285750" cy="19050"/>
          </a:xfrm>
          <a:prstGeom prst="rect">
            <a:avLst/>
          </a:prstGeom>
          <a:solidFill>
            <a:srgbClr val="9CC0E6"/>
          </a:solidFill>
          <a:ln/>
        </p:spPr>
      </p:sp>
      <p:sp>
        <p:nvSpPr>
          <p:cNvPr id="33" name="Text 30"/>
          <p:cNvSpPr/>
          <p:nvPr/>
        </p:nvSpPr>
        <p:spPr>
          <a:xfrm>
            <a:off x="13124706" y="6372225"/>
            <a:ext cx="4432637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1B2C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maintenance applications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857250" y="959167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AAB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39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4900970" y="9591675"/>
            <a:ext cx="2782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9AAB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ZIVANDE · CAPABILITIES OVERVIEW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4576">
                  <a:alpha val="100000"/>
                </a:srgbClr>
              </a:gs>
              <a:gs pos="52000">
                <a:srgbClr val="0B2747">
                  <a:alpha val="100000"/>
                </a:srgbClr>
              </a:gs>
              <a:gs pos="100000">
                <a:srgbClr val="07182E">
                  <a:alpha val="100000"/>
                </a:srgbClr>
              </a:gs>
            </a:gsLst>
            <a:path path="circle">
              <a:fillToRect t="100000" r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95500" y="-2857500"/>
            <a:ext cx="7048500" cy="7048500"/>
          </a:xfrm>
          <a:prstGeom prst="ellipse">
            <a:avLst/>
          </a:prstGeom>
          <a:ln w="254000">
            <a:solidFill>
              <a:srgbClr val="3D82C4">
                <a:alpha val="9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505075"/>
            <a:ext cx="579983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4883" y="2571750"/>
            <a:ext cx="1619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ZIVANDE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2500" y="3362325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kern="0" spc="-135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Let's Build What's Next, Together</a:t>
            </a:r>
            <a:endParaRPr lang="en-US" sz="6750" dirty="0"/>
          </a:p>
        </p:txBody>
      </p:sp>
      <p:sp>
        <p:nvSpPr>
          <p:cNvPr id="7" name="Text 4"/>
          <p:cNvSpPr/>
          <p:nvPr/>
        </p:nvSpPr>
        <p:spPr>
          <a:xfrm>
            <a:off x="952500" y="5381625"/>
            <a:ext cx="98107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A9C2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strategy and architecture to engineering, infrastructure, and AI — Zivande is your end-to-end technology partner.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52500" y="6810375"/>
            <a:ext cx="16383000" cy="9525"/>
          </a:xfrm>
          <a:prstGeom prst="rect">
            <a:avLst/>
          </a:prstGeom>
          <a:solidFill>
            <a:srgbClr val="A9C2DD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7200900"/>
            <a:ext cx="22883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52500" y="7458075"/>
            <a:ext cx="22883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www.zivande.com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3794820" y="7200900"/>
            <a:ext cx="21473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7E9D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975" dirty="0"/>
          </a:p>
        </p:txBody>
      </p:sp>
      <p:sp>
        <p:nvSpPr>
          <p:cNvPr id="12" name="Text 9">
            <a:hlinkClick r:id="rId4"/>
          </p:cNvPr>
          <p:cNvSpPr/>
          <p:nvPr/>
        </p:nvSpPr>
        <p:spPr>
          <a:xfrm>
            <a:off x="3794820" y="7458075"/>
            <a:ext cx="21473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u="sng" dirty="0">
                <a:solidFill>
                  <a:srgbClr val="0000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2817</Words>
  <Application>Microsoft Office PowerPoint</Application>
  <PresentationFormat>Custom</PresentationFormat>
  <Paragraphs>692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Archivo</vt:lpstr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1</cp:revision>
  <dcterms:created xsi:type="dcterms:W3CDTF">2026-06-19T08:18:38Z</dcterms:created>
  <dcterms:modified xsi:type="dcterms:W3CDTF">2026-06-19T10:14:43Z</dcterms:modified>
</cp:coreProperties>
</file>